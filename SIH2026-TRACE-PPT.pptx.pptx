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Garamond Bold" charset="1" panose="02020804030307010803"/>
      <p:regular r:id="rId13"/>
    </p:embeddedFont>
    <p:embeddedFont>
      <p:font typeface="Arial Bold" charset="1" panose="020B0704020202020204"/>
      <p:regular r:id="rId14"/>
    </p:embeddedFont>
    <p:embeddedFont>
      <p:font typeface="Calibri (MS)" charset="1" panose="020F0502020204030204"/>
      <p:regular r:id="rId18"/>
    </p:embeddedFont>
    <p:embeddedFont>
      <p:font typeface="Times New Roman" charset="1" panose="020206030504050203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notesMasters/notesMaster1.xml" Type="http://schemas.openxmlformats.org/officeDocument/2006/relationships/notesMaster"/><Relationship Id="rId16" Target="theme/theme2.xml" Type="http://schemas.openxmlformats.org/officeDocument/2006/relationships/theme"/><Relationship Id="rId17" Target="notesSlides/notesSlide1.xml" Type="http://schemas.openxmlformats.org/officeDocument/2006/relationships/notesSlide"/><Relationship Id="rId18" Target="fonts/font18.fntdata" Type="http://schemas.openxmlformats.org/officeDocument/2006/relationships/font"/><Relationship Id="rId19" Target="notesSlides/notesSlide2.xml" Type="http://schemas.openxmlformats.org/officeDocument/2006/relationships/notesSlide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5.png" Type="http://schemas.openxmlformats.org/officeDocument/2006/relationships/image"/><Relationship Id="rId4" Target="../media/image6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7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8.png" Type="http://schemas.openxmlformats.org/officeDocument/2006/relationships/image"/><Relationship Id="rId4" Target="../media/image4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9.png" Type="http://schemas.openxmlformats.org/officeDocument/2006/relationships/image"/><Relationship Id="rId4" Target="../media/image5.png" Type="http://schemas.openxmlformats.org/officeDocument/2006/relationships/image"/><Relationship Id="rId5" Target="../media/image4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jpeg" Type="http://schemas.openxmlformats.org/officeDocument/2006/relationships/image"/><Relationship Id="rId4" Target="../media/image5.png" Type="http://schemas.openxmlformats.org/officeDocument/2006/relationships/image"/><Relationship Id="rId5" Target="https://chemrxiv.org/doi/10.26434/chemrxiv-2025-1r058" TargetMode="External" Type="http://schemas.openxmlformats.org/officeDocument/2006/relationships/hyperlink"/><Relationship Id="rId6" Target="https://pubs.acs.org/ancham/article-abstract/88/3/1553/847036/Bismuth-Based-Disposable-Sensor-for-the-Detection" TargetMode="External" Type="http://schemas.openxmlformats.org/officeDocument/2006/relationships/hyperlink"/><Relationship Id="rId7" Target="https://www.researchgate.net/publication/380729544_Gas_sensing_and_photocatalytic_activity_of_synthesized_hierarchical_Bi2O3_nanoflakes_by_sol-gel_and_nanosheets_by_hydrothermal_method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165" y="1277283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2333" y="2573817"/>
            <a:ext cx="4805267" cy="5139357"/>
            <a:chOff x="0" y="0"/>
            <a:chExt cx="6407023" cy="685247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-149475" b="-1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1959969" y="990067"/>
            <a:ext cx="12618720" cy="2566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</a:p>
          <a:p>
            <a:pPr algn="ctr">
              <a:lnSpc>
                <a:spcPts val="5759"/>
              </a:lnSpc>
            </a:pPr>
            <a:r>
              <a:rPr lang="en-US" b="true" sz="480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TITLE PAGE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496929" y="-790137"/>
            <a:ext cx="15544800" cy="3114675"/>
            <a:chOff x="0" y="0"/>
            <a:chExt cx="20726400" cy="4152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0" y="1716405"/>
            <a:ext cx="16845095" cy="754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60"/>
              </a:lnSpc>
            </a:pPr>
          </a:p>
          <a:p>
            <a:pPr algn="just" marL="651510" indent="-325755" lvl="1">
              <a:lnSpc>
                <a:spcPts val="756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true" sz="3600">
                <a:solidFill>
                  <a:srgbClr val="FF0F0F"/>
                </a:solidFill>
                <a:latin typeface="Arial Bold"/>
                <a:ea typeface="Arial Bold"/>
                <a:cs typeface="Arial Bold"/>
                <a:sym typeface="Arial Bold"/>
              </a:rPr>
              <a:t>SIH26118</a:t>
            </a:r>
          </a:p>
          <a:p>
            <a:pPr algn="just" marL="651510" indent="-325755" lvl="1">
              <a:lnSpc>
                <a:spcPts val="756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 - </a:t>
            </a:r>
            <a:r>
              <a:rPr lang="en-US" b="true" sz="3600">
                <a:solidFill>
                  <a:srgbClr val="FF0F0F"/>
                </a:solidFill>
                <a:latin typeface="Arial Bold"/>
                <a:ea typeface="Arial Bold"/>
                <a:cs typeface="Arial Bold"/>
                <a:sym typeface="Arial Bold"/>
              </a:rPr>
              <a:t>Passive Colorimetric H2S Exposure-Dosimeter Wristband with AI-Based Quantitative Reading</a:t>
            </a:r>
          </a:p>
          <a:p>
            <a:pPr algn="just" marL="651510" indent="-325755" lvl="1">
              <a:lnSpc>
                <a:spcPts val="756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 - </a:t>
            </a:r>
            <a:r>
              <a:rPr lang="en-US" b="true" sz="3600">
                <a:solidFill>
                  <a:srgbClr val="FF0F0F"/>
                </a:solidFill>
                <a:latin typeface="Arial Bold"/>
                <a:ea typeface="Arial Bold"/>
                <a:cs typeface="Arial Bold"/>
                <a:sym typeface="Arial Bold"/>
              </a:rPr>
              <a:t>Smart Automation</a:t>
            </a:r>
          </a:p>
          <a:p>
            <a:pPr algn="just" marL="651510" indent="-325755" lvl="1">
              <a:lnSpc>
                <a:spcPts val="756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 - </a:t>
            </a:r>
            <a:r>
              <a:rPr lang="en-US" b="true" sz="3600">
                <a:solidFill>
                  <a:srgbClr val="FF0F0F"/>
                </a:solidFill>
                <a:latin typeface="Arial Bold"/>
                <a:ea typeface="Arial Bold"/>
                <a:cs typeface="Arial Bold"/>
                <a:sym typeface="Arial Bold"/>
              </a:rPr>
              <a:t>Hardware</a:t>
            </a:r>
          </a:p>
          <a:p>
            <a:pPr algn="just" marL="651510" indent="-325755" lvl="1">
              <a:lnSpc>
                <a:spcPts val="756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 -</a:t>
            </a:r>
          </a:p>
          <a:p>
            <a:pPr algn="just" marL="651510" indent="-325755" lvl="1">
              <a:lnSpc>
                <a:spcPts val="756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 - </a:t>
            </a:r>
            <a:r>
              <a:rPr lang="en-US" b="true" sz="3600">
                <a:solidFill>
                  <a:srgbClr val="FF0F0F"/>
                </a:solidFill>
                <a:latin typeface="Arial Bold"/>
                <a:ea typeface="Arial Bold"/>
                <a:cs typeface="Arial Bold"/>
                <a:sym typeface="Arial Bold"/>
              </a:rPr>
              <a:t>TRACE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028700" y="1409436"/>
            <a:ext cx="15663099" cy="8877564"/>
          </a:xfrm>
          <a:custGeom>
            <a:avLst/>
            <a:gdLst/>
            <a:ahLst/>
            <a:cxnLst/>
            <a:rect r="r" b="b" t="t" l="l"/>
            <a:pathLst>
              <a:path h="8877564" w="15663099">
                <a:moveTo>
                  <a:pt x="0" y="0"/>
                </a:moveTo>
                <a:lnTo>
                  <a:pt x="15663099" y="0"/>
                </a:lnTo>
                <a:lnTo>
                  <a:pt x="15663099" y="8877564"/>
                </a:lnTo>
                <a:lnTo>
                  <a:pt x="0" y="88775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5762" r="0" b="-1566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75612" y="-685800"/>
            <a:ext cx="16459200" cy="1901168"/>
            <a:chOff x="0" y="0"/>
            <a:chExt cx="21945600" cy="25348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2534890"/>
            </a:xfrm>
            <a:custGeom>
              <a:avLst/>
              <a:gdLst/>
              <a:ahLst/>
              <a:cxnLst/>
              <a:rect r="r" b="b" t="t" l="l"/>
              <a:pathLst>
                <a:path h="25348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534890"/>
                  </a:lnTo>
                  <a:lnTo>
                    <a:pt x="0" y="25348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123599" r="0" b="-11378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25634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IDEA TITLE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TRACE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52212" y="1436227"/>
            <a:ext cx="13151593" cy="8767729"/>
          </a:xfrm>
          <a:custGeom>
            <a:avLst/>
            <a:gdLst/>
            <a:ahLst/>
            <a:cxnLst/>
            <a:rect r="r" b="b" t="t" l="l"/>
            <a:pathLst>
              <a:path h="8767729" w="13151593">
                <a:moveTo>
                  <a:pt x="0" y="0"/>
                </a:moveTo>
                <a:lnTo>
                  <a:pt x="13151593" y="0"/>
                </a:lnTo>
                <a:lnTo>
                  <a:pt x="13151593" y="8767729"/>
                </a:lnTo>
                <a:lnTo>
                  <a:pt x="0" y="87677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28700" y="126622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TECHNICAL APPROACH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7" id="7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307011" y="1171014"/>
            <a:ext cx="13673979" cy="9115986"/>
          </a:xfrm>
          <a:custGeom>
            <a:avLst/>
            <a:gdLst/>
            <a:ahLst/>
            <a:cxnLst/>
            <a:rect r="r" b="b" t="t" l="l"/>
            <a:pathLst>
              <a:path h="9115986" w="13673979">
                <a:moveTo>
                  <a:pt x="0" y="0"/>
                </a:moveTo>
                <a:lnTo>
                  <a:pt x="13673978" y="0"/>
                </a:lnTo>
                <a:lnTo>
                  <a:pt x="13673978" y="9115986"/>
                </a:lnTo>
                <a:lnTo>
                  <a:pt x="0" y="91159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7" id="7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TRACE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1"/>
              </a:stretch>
            </a:blipFill>
          </p:spPr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4125" y="898884"/>
            <a:ext cx="14082174" cy="9388116"/>
          </a:xfrm>
          <a:custGeom>
            <a:avLst/>
            <a:gdLst/>
            <a:ahLst/>
            <a:cxnLst/>
            <a:rect r="r" b="b" t="t" l="l"/>
            <a:pathLst>
              <a:path h="9388116" w="14082174">
                <a:moveTo>
                  <a:pt x="0" y="0"/>
                </a:moveTo>
                <a:lnTo>
                  <a:pt x="14082174" y="0"/>
                </a:lnTo>
                <a:lnTo>
                  <a:pt x="14082174" y="9388116"/>
                </a:lnTo>
                <a:lnTo>
                  <a:pt x="0" y="9388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475612" y="0"/>
            <a:ext cx="16459200" cy="4263368"/>
            <a:chOff x="0" y="0"/>
            <a:chExt cx="21945600" cy="568449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5684490"/>
            </a:xfrm>
            <a:custGeom>
              <a:avLst/>
              <a:gdLst/>
              <a:ahLst/>
              <a:cxnLst/>
              <a:rect r="r" b="b" t="t" l="l"/>
              <a:pathLst>
                <a:path h="568449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684490"/>
                  </a:lnTo>
                  <a:lnTo>
                    <a:pt x="0" y="5684490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55116" r="0" b="4668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945600" cy="5713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IMPACT AND BENEFITS</a:t>
              </a:r>
            </a:p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5760"/>
                </a:lnSpc>
              </a:pPr>
            </a:p>
            <a:p>
              <a:pPr algn="ctr">
                <a:lnSpc>
                  <a:spcPts val="6480"/>
                </a:lnSpc>
              </a:pPr>
            </a:p>
            <a:p>
              <a:pPr algn="ctr">
                <a:lnSpc>
                  <a:spcPts val="648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9" id="9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TRACE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71438"/>
            <a:ext cx="16459200" cy="1714500"/>
            <a:chOff x="0" y="0"/>
            <a:chExt cx="21945600" cy="228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37056" r="0" b="-13705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6480"/>
                </a:lnSpc>
              </a:pPr>
              <a:r>
                <a:rPr lang="en-US" sz="54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75612" y="359321"/>
            <a:ext cx="1915887" cy="1249101"/>
            <a:chOff x="0" y="0"/>
            <a:chExt cx="2554516" cy="1665468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2554478" cy="1665481"/>
            </a:xfrm>
            <a:custGeom>
              <a:avLst/>
              <a:gdLst/>
              <a:ahLst/>
              <a:cxnLst/>
              <a:rect r="r" b="b" t="t" l="l"/>
              <a:pathLst>
                <a:path h="1665481" w="2554478">
                  <a:moveTo>
                    <a:pt x="0" y="832740"/>
                  </a:moveTo>
                  <a:cubicBezTo>
                    <a:pt x="0" y="372873"/>
                    <a:pt x="571881" y="0"/>
                    <a:pt x="1277239" y="0"/>
                  </a:cubicBezTo>
                  <a:cubicBezTo>
                    <a:pt x="1982597" y="0"/>
                    <a:pt x="2554478" y="372873"/>
                    <a:pt x="2554478" y="832740"/>
                  </a:cubicBezTo>
                  <a:cubicBezTo>
                    <a:pt x="2554478" y="1292608"/>
                    <a:pt x="1982597" y="1665481"/>
                    <a:pt x="1277239" y="1665481"/>
                  </a:cubicBezTo>
                  <a:cubicBezTo>
                    <a:pt x="571881" y="1665481"/>
                    <a:pt x="0" y="1292608"/>
                    <a:pt x="0" y="83274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2554516" cy="17226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TRACE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-223647" y="3325710"/>
            <a:ext cx="15832117" cy="152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89"/>
              </a:lnSpc>
              <a:spcBef>
                <a:spcPct val="0"/>
              </a:spcBef>
            </a:pPr>
            <a:r>
              <a:rPr lang="en-US" sz="33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Bism</a:t>
            </a:r>
            <a:r>
              <a:rPr lang="en-US" sz="33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uth Paper as a Lead-Free Alternative to High-Throughput Colorimetric Detection Method for Hydrogen Sulfide:</a:t>
            </a:r>
            <a:r>
              <a:rPr lang="en-US" sz="3324">
                <a:solidFill>
                  <a:srgbClr val="5CE1E6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3324" u="sng">
                <a:solidFill>
                  <a:srgbClr val="38B6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 tooltip="https://chemrxiv.org/doi/10.26434/chemrxiv-2025-1r058"/>
              </a:rPr>
              <a:t>https://chemrxiv.org/doi/10.26434/chemrxiv-2025-1r058</a:t>
            </a:r>
          </a:p>
          <a:p>
            <a:pPr algn="ctr">
              <a:lnSpc>
                <a:spcPts val="3989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326677" y="4672610"/>
            <a:ext cx="14458563" cy="2532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  <a:spcBef>
                <a:spcPct val="0"/>
              </a:spcBef>
            </a:pPr>
            <a:r>
              <a:rPr lang="en-US" sz="33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Bism</a:t>
            </a:r>
            <a:r>
              <a:rPr lang="en-US" sz="33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uth-Based, Disposable Sensor for the Detection of Hydrogen Sulfide Gas: </a:t>
            </a:r>
            <a:r>
              <a:rPr lang="en-US" sz="3324" u="sng">
                <a:solidFill>
                  <a:srgbClr val="38B6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 tooltip="https://pubs.acs.org/ancham/article-abstract/88/3/1553/847036/Bismuth-Based-Disposable-Sensor-for-the-Detection"/>
              </a:rPr>
              <a:t>https://pubs.acs.org/ancham/article-abstract/88/3/1553/847036/Bismuth-Based-Disposable-Sensor-for-the-Detection</a:t>
            </a:r>
          </a:p>
          <a:p>
            <a:pPr algn="l">
              <a:lnSpc>
                <a:spcPts val="3989"/>
              </a:lnSpc>
              <a:spcBef>
                <a:spcPct val="0"/>
              </a:spcBef>
            </a:pPr>
          </a:p>
          <a:p>
            <a:pPr algn="l">
              <a:lnSpc>
                <a:spcPts val="398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326677" y="6778979"/>
            <a:ext cx="15832117" cy="303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9"/>
              </a:lnSpc>
              <a:spcBef>
                <a:spcPct val="0"/>
              </a:spcBef>
            </a:pPr>
            <a:r>
              <a:rPr lang="en-US" sz="33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Bi₂O₃</a:t>
            </a:r>
            <a:r>
              <a:rPr lang="en-US" sz="3324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Nanoflakes and Nanosheets for Gas Sensing:</a:t>
            </a:r>
          </a:p>
          <a:p>
            <a:pPr algn="l">
              <a:lnSpc>
                <a:spcPts val="3989"/>
              </a:lnSpc>
              <a:spcBef>
                <a:spcPct val="0"/>
              </a:spcBef>
            </a:pPr>
            <a:r>
              <a:rPr lang="en-US" sz="3324" u="sng">
                <a:solidFill>
                  <a:srgbClr val="38B6F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7" tooltip="https://www.researchgate.net/publication/380729544_Gas_sensing_and_photocatalytic_activity_of_synthesized_hierarchical_Bi2O3_nanoflakes_by_sol-gel_and_nanosheets_by_hydrothermal_method"/>
              </a:rPr>
              <a:t>https://www.researchgate.net/publication/380729544_Gas_sensing_and_photocatalytic_activity_of_synthesized_hierarchical_Bi2O3_nanoflakes_by_sol-gel_and_nanosheets_by_hydrothermal_method</a:t>
            </a:r>
          </a:p>
          <a:p>
            <a:pPr algn="l">
              <a:lnSpc>
                <a:spcPts val="3989"/>
              </a:lnSpc>
              <a:spcBef>
                <a:spcPct val="0"/>
              </a:spcBef>
            </a:pPr>
          </a:p>
          <a:p>
            <a:pPr algn="l">
              <a:lnSpc>
                <a:spcPts val="3989"/>
              </a:lnSpc>
              <a:spcBef>
                <a:spcPct val="0"/>
              </a:spcBef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326677" y="1817635"/>
            <a:ext cx="15832117" cy="152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89"/>
              </a:lnSpc>
              <a:spcBef>
                <a:spcPct val="0"/>
              </a:spcBef>
            </a:pPr>
            <a:r>
              <a:rPr lang="en-US" sz="3324" strike="noStrike" u="sng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Quantitative, colorimetric paper probe for hydrogen sulfide gas :</a:t>
            </a:r>
            <a:r>
              <a:rPr lang="en-US" sz="3324" strike="noStrike" u="sng">
                <a:solidFill>
                  <a:srgbClr val="38B6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https://www.sciencedirect.com/science/article/pii/S0925400517311334</a:t>
            </a:r>
          </a:p>
          <a:p>
            <a:pPr algn="l" marL="0" indent="0" lvl="0">
              <a:lnSpc>
                <a:spcPts val="398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DAHUw-O4lBc</dc:identifier>
  <dcterms:modified xsi:type="dcterms:W3CDTF">2011-08-01T06:04:30Z</dcterms:modified>
  <cp:revision>1</cp:revision>
  <dc:title>Copy of SIH2026-IDEA-Presentation-Format.pptx</dc:title>
</cp:coreProperties>
</file>